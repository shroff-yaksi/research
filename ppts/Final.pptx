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4" r:id="rId3"/>
    <p:sldId id="268" r:id="rId4"/>
    <p:sldId id="269" r:id="rId5"/>
    <p:sldId id="270" r:id="rId6"/>
    <p:sldId id="271" r:id="rId7"/>
    <p:sldId id="281" r:id="rId8"/>
    <p:sldId id="285" r:id="rId9"/>
    <p:sldId id="282" r:id="rId10"/>
    <p:sldId id="286" r:id="rId11"/>
    <p:sldId id="283" r:id="rId12"/>
    <p:sldId id="287" r:id="rId13"/>
    <p:sldId id="284" r:id="rId14"/>
    <p:sldId id="288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65" r:id="rId25"/>
    <p:sldId id="26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runa patel" initials="kp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>
      <p:cViewPr varScale="1">
        <p:scale>
          <a:sx n="107" d="100"/>
          <a:sy n="107" d="100"/>
        </p:scale>
        <p:origin x="1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19DB7F-71B5-4F2B-46A8-B786909D2579}"/>
              </a:ext>
            </a:extLst>
          </p:cNvPr>
          <p:cNvSpPr txBox="1"/>
          <p:nvPr/>
        </p:nvSpPr>
        <p:spPr>
          <a:xfrm>
            <a:off x="381000" y="304799"/>
            <a:ext cx="8382000" cy="5913687"/>
          </a:xfrm>
          <a:custGeom>
            <a:avLst/>
            <a:gdLst>
              <a:gd name="csX0" fmla="*/ 0 w 8382000"/>
              <a:gd name="csY0" fmla="*/ 0 h 369332"/>
              <a:gd name="csX1" fmla="*/ 8382000 w 8382000"/>
              <a:gd name="csY1" fmla="*/ 0 h 369332"/>
              <a:gd name="csX2" fmla="*/ 8382000 w 8382000"/>
              <a:gd name="csY2" fmla="*/ 369332 h 369332"/>
              <a:gd name="csX3" fmla="*/ 0 w 8382000"/>
              <a:gd name="csY3" fmla="*/ 369332 h 369332"/>
              <a:gd name="csX4" fmla="*/ 0 w 8382000"/>
              <a:gd name="csY4" fmla="*/ 0 h 369332"/>
              <a:gd name="csX0" fmla="*/ 0 w 8382000"/>
              <a:gd name="csY0" fmla="*/ 0 h 6222780"/>
              <a:gd name="csX1" fmla="*/ 8382000 w 8382000"/>
              <a:gd name="csY1" fmla="*/ 0 h 6222780"/>
              <a:gd name="csX2" fmla="*/ 8382000 w 8382000"/>
              <a:gd name="csY2" fmla="*/ 369332 h 6222780"/>
              <a:gd name="csX3" fmla="*/ 25758 w 8382000"/>
              <a:gd name="csY3" fmla="*/ 6222780 h 6222780"/>
              <a:gd name="csX4" fmla="*/ 0 w 8382000"/>
              <a:gd name="csY4" fmla="*/ 0 h 6222780"/>
              <a:gd name="csX0" fmla="*/ 0 w 8394879"/>
              <a:gd name="csY0" fmla="*/ 0 h 6248537"/>
              <a:gd name="csX1" fmla="*/ 8382000 w 8394879"/>
              <a:gd name="csY1" fmla="*/ 0 h 6248537"/>
              <a:gd name="csX2" fmla="*/ 8394879 w 8394879"/>
              <a:gd name="csY2" fmla="*/ 6248537 h 6248537"/>
              <a:gd name="csX3" fmla="*/ 25758 w 8394879"/>
              <a:gd name="csY3" fmla="*/ 6222780 h 6248537"/>
              <a:gd name="csX4" fmla="*/ 0 w 8394879"/>
              <a:gd name="csY4" fmla="*/ 0 h 6248537"/>
              <a:gd name="csX0" fmla="*/ 0 w 8382000"/>
              <a:gd name="csY0" fmla="*/ 0 h 6222780"/>
              <a:gd name="csX1" fmla="*/ 8382000 w 8382000"/>
              <a:gd name="csY1" fmla="*/ 0 h 6222780"/>
              <a:gd name="csX2" fmla="*/ 8375561 w 8382000"/>
              <a:gd name="csY2" fmla="*/ 6171263 h 6222780"/>
              <a:gd name="csX3" fmla="*/ 25758 w 8382000"/>
              <a:gd name="csY3" fmla="*/ 6222780 h 6222780"/>
              <a:gd name="csX4" fmla="*/ 0 w 8382000"/>
              <a:gd name="csY4" fmla="*/ 0 h 6222780"/>
              <a:gd name="csX0" fmla="*/ 0 w 8382000"/>
              <a:gd name="csY0" fmla="*/ 0 h 6222780"/>
              <a:gd name="csX1" fmla="*/ 8382000 w 8382000"/>
              <a:gd name="csY1" fmla="*/ 0 h 6222780"/>
              <a:gd name="csX2" fmla="*/ 8362682 w 8382000"/>
              <a:gd name="csY2" fmla="*/ 5849292 h 6222780"/>
              <a:gd name="csX3" fmla="*/ 25758 w 8382000"/>
              <a:gd name="csY3" fmla="*/ 6222780 h 6222780"/>
              <a:gd name="csX4" fmla="*/ 0 w 8382000"/>
              <a:gd name="csY4" fmla="*/ 0 h 6222780"/>
              <a:gd name="csX0" fmla="*/ 0 w 8382000"/>
              <a:gd name="csY0" fmla="*/ 0 h 5913687"/>
              <a:gd name="csX1" fmla="*/ 8382000 w 8382000"/>
              <a:gd name="csY1" fmla="*/ 0 h 5913687"/>
              <a:gd name="csX2" fmla="*/ 8362682 w 8382000"/>
              <a:gd name="csY2" fmla="*/ 5849292 h 5913687"/>
              <a:gd name="csX3" fmla="*/ 38637 w 8382000"/>
              <a:gd name="csY3" fmla="*/ 5913687 h 5913687"/>
              <a:gd name="csX4" fmla="*/ 0 w 8382000"/>
              <a:gd name="csY4" fmla="*/ 0 h 5913687"/>
              <a:gd name="csX0" fmla="*/ 0 w 8382000"/>
              <a:gd name="csY0" fmla="*/ 0 h 5913687"/>
              <a:gd name="csX1" fmla="*/ 8382000 w 8382000"/>
              <a:gd name="csY1" fmla="*/ 0 h 5913687"/>
              <a:gd name="csX2" fmla="*/ 8356243 w 8382000"/>
              <a:gd name="csY2" fmla="*/ 5907247 h 5913687"/>
              <a:gd name="csX3" fmla="*/ 38637 w 8382000"/>
              <a:gd name="csY3" fmla="*/ 5913687 h 5913687"/>
              <a:gd name="csX4" fmla="*/ 0 w 8382000"/>
              <a:gd name="csY4" fmla="*/ 0 h 5913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382000" h="5913687">
                <a:moveTo>
                  <a:pt x="0" y="0"/>
                </a:moveTo>
                <a:lnTo>
                  <a:pt x="8382000" y="0"/>
                </a:lnTo>
                <a:cubicBezTo>
                  <a:pt x="8379854" y="2057088"/>
                  <a:pt x="8358389" y="3850159"/>
                  <a:pt x="8356243" y="5907247"/>
                </a:cubicBezTo>
                <a:lnTo>
                  <a:pt x="38637" y="5913687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\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81000"/>
            <a:ext cx="6096000" cy="1143000"/>
          </a:xfrm>
        </p:spPr>
        <p:txBody>
          <a:bodyPr>
            <a:noAutofit/>
          </a:bodyPr>
          <a:lstStyle/>
          <a:p>
            <a:pPr algn="ctr" fontAlgn="t">
              <a:buNone/>
            </a:pPr>
            <a:r>
              <a:rPr sz="2400" b="1" dirty="0">
                <a:latin typeface="Times New Roman"/>
              </a:rPr>
              <a:t>RE-</a:t>
            </a:r>
            <a:r>
              <a:rPr sz="2400" b="1" dirty="0" err="1">
                <a:latin typeface="Times New Roman"/>
              </a:rPr>
              <a:t>TabSyn</a:t>
            </a:r>
            <a:r>
              <a:rPr sz="2400" b="1" dirty="0">
                <a:latin typeface="Times New Roman"/>
              </a:rPr>
              <a:t>: Controllable Rare-Event Synthetic Data Generation for Financial Tabular Data via Classifier-Free Guidance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381000"/>
            <a:ext cx="990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6" name="Picture 6" descr="UKA Tarsadia University, Bardoli, Admission, Courses, Fees, Placemen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400050"/>
            <a:ext cx="1143000" cy="914400"/>
          </a:xfrm>
          <a:prstGeom prst="rect">
            <a:avLst/>
          </a:prstGeom>
          <a:noFill/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1371600" y="990600"/>
            <a:ext cx="6400800" cy="9144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28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524000" y="1702080"/>
            <a:ext cx="6400800" cy="9144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24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66C426-72C8-4829-9D1C-542B7594BF19}"/>
              </a:ext>
            </a:extLst>
          </p:cNvPr>
          <p:cNvSpPr txBox="1">
            <a:spLocks/>
          </p:cNvSpPr>
          <p:nvPr/>
        </p:nvSpPr>
        <p:spPr>
          <a:xfrm>
            <a:off x="457200" y="2590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t">
              <a:lnSpc>
                <a:spcPct val="150000"/>
              </a:lnSpc>
              <a:buNone/>
            </a:pPr>
            <a:r>
              <a:rPr sz="2000" b="0">
                <a:latin typeface="Times New Roman"/>
              </a:rPr>
              <a:t>Submitted by</a:t>
            </a:r>
          </a:p>
          <a:p>
            <a:pPr algn="ctr">
              <a:buNone/>
            </a:pPr>
            <a:r>
              <a:rPr sz="2000" b="1">
                <a:latin typeface="Times New Roman"/>
              </a:rPr>
              <a:t>Yaksi Ketan Shroff</a:t>
            </a:r>
          </a:p>
          <a:p>
            <a:pPr algn="ctr">
              <a:buNone/>
            </a:pPr>
            <a:r>
              <a:rPr sz="2000" b="0">
                <a:latin typeface="Times New Roman"/>
              </a:rPr>
              <a:t>(202203103510201)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981552-39D5-13DD-6777-75E6EA849491}"/>
              </a:ext>
            </a:extLst>
          </p:cNvPr>
          <p:cNvSpPr txBox="1">
            <a:spLocks/>
          </p:cNvSpPr>
          <p:nvPr/>
        </p:nvSpPr>
        <p:spPr>
          <a:xfrm>
            <a:off x="457200" y="4495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t">
              <a:lnSpc>
                <a:spcPct val="150000"/>
              </a:lnSpc>
              <a:buNone/>
            </a:pPr>
            <a:r>
              <a:rPr sz="2000" b="0" i="1" dirty="0">
                <a:latin typeface="Times New Roman"/>
              </a:rPr>
              <a:t>under the supervision of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1" dirty="0">
                <a:latin typeface="Times New Roman"/>
              </a:rPr>
              <a:t>Dr. </a:t>
            </a:r>
            <a:r>
              <a:rPr sz="2000" b="1" dirty="0" err="1">
                <a:latin typeface="Times New Roman"/>
              </a:rPr>
              <a:t>Vishvajit</a:t>
            </a:r>
            <a:r>
              <a:rPr sz="2000" b="1" dirty="0">
                <a:latin typeface="Times New Roman"/>
              </a:rPr>
              <a:t> </a:t>
            </a:r>
            <a:r>
              <a:rPr sz="2000" b="1" dirty="0" err="1">
                <a:latin typeface="Times New Roman"/>
              </a:rPr>
              <a:t>Bakrola</a:t>
            </a:r>
            <a:endParaRPr lang="en-US" sz="2000" b="1" dirty="0">
              <a:latin typeface="Times New Roman"/>
            </a:endParaRPr>
          </a:p>
          <a:p>
            <a:pPr algn="ctr">
              <a:buNone/>
            </a:pPr>
            <a:r>
              <a:rPr lang="en-IN" sz="2000" dirty="0">
                <a:latin typeface="Times New Roman"/>
              </a:rPr>
              <a:t>Associate Professor and Director,</a:t>
            </a:r>
            <a:endParaRPr sz="2000" dirty="0">
              <a:latin typeface="Times New Roman"/>
            </a:endParaRPr>
          </a:p>
          <a:p>
            <a:pPr algn="ctr">
              <a:buNone/>
            </a:pPr>
            <a:r>
              <a:rPr sz="2000" b="0" dirty="0">
                <a:latin typeface="Times New Roman"/>
              </a:rPr>
              <a:t>Department of Computer Science and Engineering,</a:t>
            </a:r>
          </a:p>
          <a:p>
            <a:pPr algn="ctr">
              <a:buNone/>
            </a:pPr>
            <a:r>
              <a:rPr sz="2000" b="0" dirty="0">
                <a:latin typeface="Times New Roman"/>
              </a:rPr>
              <a:t>AMTICS, UTU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F94BF5-2455-3A2E-AB0C-0FA1D7F5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394" y="6265188"/>
            <a:ext cx="17859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April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9718A-49FE-F334-6CD5-D17CC533C851}"/>
              </a:ext>
            </a:extLst>
          </p:cNvPr>
          <p:cNvSpPr txBox="1"/>
          <p:nvPr/>
        </p:nvSpPr>
        <p:spPr>
          <a:xfrm>
            <a:off x="2286000" y="1905000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Presentation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CD596713-5ED5-AD84-64D3-368B312E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59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Synthetic data: artificially generated records that statistically match real data without exposing individuals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Gartner projects synthetic data will overshadow real data in AI training by 2030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Financial sector: privacy-regulated (GDPR, GLBA, PCI-DSS); rare events — fraud, default, bankruptcy — cause billions in losses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Rare events are the most valuable to detect, yet form less than 5% of records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Deep generative models (GANs, VAEs, diffusion) have advanced for images and text but lag for mixed-type tabular data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Financial datasets are severely imbalanced: fraud 0.1–0.5%, loan default 5–15%, bankruptcy 3–8%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Classifiers on imbalanced data fail on the minority class (the accuracy paradox)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Existing generators replicate the skewed distribution — no class-ratio control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CTGAN, TVAE suffer mode collapse on rare classes; TabDDPM fails on mixed-type data (KS ≈ 0.77)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TabSyn achieves best fidelity (KS ≈ 0.109) but mirrors the training imbalance exactly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Gap (systematic review of 151 papers): no method lets practitioners set target minority ratio at generation time without retraining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Apply Classifier-Free Guidance (CFG) to tabular synthesis for the first time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Enable inference-time control over synthetic class ratios through a single guidance scale w (no retraining)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Preserve statistical fidelity and empirical privacy comparable to the state-of-the-art TabSyn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Improve minority-class detection (minority F1) beyond the real-data baseline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Evaluate on six financial benchmarks (4.8%–44.5% minority) against four baselines — CTGAN, TVAE, TabDDPM, TabSyn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— Capability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Systematic review: 151 papers across 10 categories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377440"/>
          <a:ext cx="8412480" cy="355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Capability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CTGAN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TVAE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TabDDPM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TabSyn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RE-TabSyn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Mixed-type support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Partial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High fidelity (KS &lt; 0.20)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Stable training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Mode coverage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Partial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Class control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Post-hoc ratio adjustment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- Diffusion Architectures for Tabular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000" b="0">
                <a:latin typeface="Times New Roman"/>
              </a:rPr>
              <a:t>Section 3.1, 3.7: foundational diffusion, score-based and hybrid generative models</a:t>
            </a:r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7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409025"/>
              </p:ext>
            </p:extLst>
          </p:nvPr>
        </p:nvGraphicFramePr>
        <p:xfrm>
          <a:off x="365760" y="1920000"/>
          <a:ext cx="8412480" cy="37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Sr No.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1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[1] </a:t>
                      </a:r>
                      <a:r>
                        <a:rPr sz="1400" dirty="0" err="1">
                          <a:latin typeface="Times New Roman"/>
                        </a:rPr>
                        <a:t>TabDDPM</a:t>
                      </a:r>
                      <a:r>
                        <a:rPr sz="1400" dirty="0">
                          <a:latin typeface="Times New Roman"/>
                        </a:rPr>
                        <a:t> - </a:t>
                      </a:r>
                      <a:r>
                        <a:rPr sz="1400" dirty="0" err="1">
                          <a:latin typeface="Times New Roman"/>
                        </a:rPr>
                        <a:t>Kotelnikov</a:t>
                      </a:r>
                      <a:r>
                        <a:rPr sz="1400" dirty="0">
                          <a:latin typeface="Times New Roman"/>
                        </a:rPr>
                        <a:t> et al., 2023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First diffusion model for mixed-type tabular data; Gaussian diffusion for numeric + Multinomial for categorical; F1 within 3% of real data and DCR 4-5x higher than SMOTE.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Training time up to 10 hours; sensitive to dataset scaling; no class-ratio control; no formal privacy bounds.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[2] </a:t>
                      </a:r>
                      <a:r>
                        <a:rPr sz="1400" dirty="0" err="1">
                          <a:latin typeface="Times New Roman"/>
                        </a:rPr>
                        <a:t>CoDi</a:t>
                      </a:r>
                      <a:r>
                        <a:rPr sz="1400" dirty="0">
                          <a:latin typeface="Times New Roman"/>
                        </a:rPr>
                        <a:t> - Lee et al., 2023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Co-evolving dual-diffusion with contrastive triplet loss; exchanges conditional info between continuous and discrete streams; 9x faster sampling than STaSy.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Does not explicitly address privacy or rare-event fidelity; contrastive coupling destabilizes at high loss weight.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[3] MTabGen - Villaizan-Vallelado et al., 2025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Transformer denoiser with dynamic masking and conditioning attention; unified framework for imputation and synthesis; best fidelity on Otto Group (93 features).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Fidelity gains slightly increase privacy risk (utility-privacy trade-off); heavy computation on high-dimensional data.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76BA-4486-839D-829E-6FF54FD6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D4BF-3CA0-4265-87F9-C2AE8BD2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- Diffusion Architectures for Tabular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6CB68-BCAC-BE76-1CAC-C042E902C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000" b="0">
                <a:latin typeface="Times New Roman"/>
              </a:rPr>
              <a:t>Section 3.1, 3.7: foundational diffusion, score-based and hybrid generative models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51774598-6867-5F5C-9F9C-7A560DA1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7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F9AD38-C7A3-F1E1-28C6-0D7BCD9C6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468486"/>
              </p:ext>
            </p:extLst>
          </p:nvPr>
        </p:nvGraphicFramePr>
        <p:xfrm>
          <a:off x="365760" y="1920000"/>
          <a:ext cx="8412480" cy="401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Sr No.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4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[4] Ho &amp; Salimans, 2022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Classifier-Free Diffusion Guidance: blends conditional and unconditional noise predictions at inference via a single guidance scale w.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Originally demonstrated on images only; not previously applied to structured tabular data - gap addressed by RE-</a:t>
                      </a:r>
                      <a:r>
                        <a:rPr sz="1400" dirty="0" err="1">
                          <a:latin typeface="Times New Roman"/>
                        </a:rPr>
                        <a:t>TabSyn</a:t>
                      </a:r>
                      <a:r>
                        <a:rPr sz="1400" dirty="0">
                          <a:latin typeface="Times New Roman"/>
                        </a:rPr>
                        <a:t>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1364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[7] Kingma &amp; Welling, 2014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Variational Autoencoder with ELBO objective; foundational latent-variable generative model for continuous data.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Prone to posterior collapse and mode averaging; struggles with heterogeneous mixed-type tabular data.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6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[8] van den Oord et al., 2018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Contrastive Predictive Coding for self-supervised representation learning; informs contrastive coupling in </a:t>
                      </a:r>
                      <a:r>
                        <a:rPr sz="1400" dirty="0" err="1">
                          <a:latin typeface="Times New Roman"/>
                        </a:rPr>
                        <a:t>CoDi</a:t>
                      </a:r>
                      <a:r>
                        <a:rPr sz="1400" dirty="0">
                          <a:latin typeface="Times New Roman"/>
                        </a:rPr>
                        <a:t>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Representation-learning method only; not a direct generator for tabular data.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7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[19] Esteban et al., 2017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Recurrent Conditional GAN (RCGAN) for real-valued medical time-series; origin of TSTR evaluation protocol.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Designed for sequential data; not mixed-type tabular; GAN-based so mode-collapse risk.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8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[25] CTAB-GAN+ - Zhao et al., 2021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Mixed-type conditional GAN for tabular data; baseline for subsequent diffusion comparisons.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Weaker fidelity under noise; still suffers from GAN mode collapse; baseline only.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150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- Privacy-Preserving and Federated 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000" b="0">
                <a:latin typeface="Times New Roman"/>
              </a:rPr>
              <a:t>Section 3.2, 3.3: differential privacy, federated learning and DP-foundation works</a:t>
            </a:r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8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932818"/>
              </p:ext>
            </p:extLst>
          </p:nvPr>
        </p:nvGraphicFramePr>
        <p:xfrm>
          <a:off x="365760" y="1920000"/>
          <a:ext cx="8412480" cy="444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Sr No.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12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[9] DP-</a:t>
                      </a:r>
                      <a:r>
                        <a:rPr sz="1400" dirty="0" err="1">
                          <a:latin typeface="Times New Roman"/>
                        </a:rPr>
                        <a:t>FedTabDiff</a:t>
                      </a:r>
                      <a:r>
                        <a:rPr sz="1400" dirty="0">
                          <a:latin typeface="Times New Roman"/>
                        </a:rPr>
                        <a:t> - Sattarov et al., 2025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FinDiff + FedAvg + Gaussian DP noise and clipping; 34% privacy gain with -15% utility at epsilon = 1 in non-IID federated setting.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No rare-event analysis; fidelity degrades at low epsilon; gradient noise suppresses minority patterns.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13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[10] DP-Fed-FinDiff - Sattarov et al., 2024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Adaptive clipping and per-client DP budget scaling; 5-client configuration best trade-off; accuracy within 10% of real data at epsilon = 1.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Excessive client splitting increases gradient noise and convergence instability; scaling to many clients untested.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14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[11] DPDM - Chu et al., 2023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DP-SGD with </a:t>
                      </a:r>
                      <a:r>
                        <a:rPr sz="1400" dirty="0" err="1">
                          <a:latin typeface="Times New Roman"/>
                        </a:rPr>
                        <a:t>Renyi</a:t>
                      </a:r>
                      <a:r>
                        <a:rPr sz="1400" dirty="0">
                          <a:latin typeface="Times New Roman"/>
                        </a:rPr>
                        <a:t>-DP accounting on Improved DDPMs; adaptive gradient clipping; retains &gt;90% classification utility at epsilon = 1.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Evaluated only in image domains; no federated support; high compute cost.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15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[12] Mohapatra et al., 2024 (PVLDB)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Differentially private data generation jointly with missing-data imputation for tabular data.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Not diffusion-based; limited rare-event coverage; scalability to wide tables unclear.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16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[13] Yale et al., 2020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Early Neurocomputing benchmark for privacy-preserving synthetic health data generation and evaluation.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Pre-diffusion era; GAN-based generators so mode-collapse issues; limited utility metrics.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06FC-46A9-A12C-1372-87411186E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3603-9A9B-5FD2-DAB9-43DA3061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- Privacy-Preserving and Federated 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0D3F4-0DAA-D241-89DC-1EEEB467C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000" b="0">
                <a:latin typeface="Times New Roman"/>
              </a:rPr>
              <a:t>Section 3.2, 3.3: differential privacy, federated learning and DP-foundation works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9D655425-DDD1-8924-1CE1-7453AB8A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8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0B0C8B-9A11-6D48-23EC-6B5B900D8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240268"/>
              </p:ext>
            </p:extLst>
          </p:nvPr>
        </p:nvGraphicFramePr>
        <p:xfrm>
          <a:off x="365760" y="1920000"/>
          <a:ext cx="8412480" cy="4233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Sr No.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17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[20] Dwork, 2008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Foundational differential privacy survey defining (epsilon, delta)-DP and post-processing invariance.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Theoretical only; does not prescribe mechanisms for deep generative models.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18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[21] Abadi et al., 2016 (CCS)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DP-SGD: gradient clipping + Gaussian noise + moments accountant for deep learning with formal DP.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Formal guarantees introduce substantial utility loss at small epsilon; sensitive to clip-norm tuning.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19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[22] McMahan et al., 2017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Federated Averaging (</a:t>
                      </a:r>
                      <a:r>
                        <a:rPr sz="1400" dirty="0" err="1">
                          <a:latin typeface="Times New Roman"/>
                        </a:rPr>
                        <a:t>FedAvg</a:t>
                      </a:r>
                      <a:r>
                        <a:rPr sz="1400" dirty="0">
                          <a:latin typeface="Times New Roman"/>
                        </a:rPr>
                        <a:t>): communication-efficient FL aggregation adopted by DP-</a:t>
                      </a:r>
                      <a:r>
                        <a:rPr sz="1400" dirty="0" err="1">
                          <a:latin typeface="Times New Roman"/>
                        </a:rPr>
                        <a:t>FedTabDiff</a:t>
                      </a:r>
                      <a:r>
                        <a:rPr sz="1400" dirty="0">
                          <a:latin typeface="Times New Roman"/>
                        </a:rPr>
                        <a:t>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Assumes IID data; no built-in privacy guarantee; convergence weaker in heterogeneous settings.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20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[23] Schreyer et al., 2024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Comparative study of DP synthetic financial-data generators under privacy constraints.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Comparative only - no novel architecture; limited to finance benchmarks.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21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[30] Carlini et al., 2022 (IEEE S&amp;P)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Membership Inference Attacks from first principles; likelihood-ratio attack framework for rigorous MIA evaluation.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Attack-side paper only; no defenses proposed.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044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- Rare-Event and Fairness-Aware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000" b="0">
                <a:latin typeface="Times New Roman"/>
              </a:rPr>
              <a:t>Section 3.5, 3.6: EVT-based rare-event modelling and fairness-aware diffusion</a:t>
            </a:r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9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14113"/>
              </p:ext>
            </p:extLst>
          </p:nvPr>
        </p:nvGraphicFramePr>
        <p:xfrm>
          <a:off x="365760" y="1920000"/>
          <a:ext cx="8412480" cy="4233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Sr No.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25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[5] </a:t>
                      </a:r>
                      <a:r>
                        <a:rPr sz="1400" dirty="0" err="1">
                          <a:latin typeface="Times New Roman"/>
                        </a:rPr>
                        <a:t>FairSYN</a:t>
                      </a:r>
                      <a:r>
                        <a:rPr sz="1400" dirty="0">
                          <a:latin typeface="Times New Roman"/>
                        </a:rPr>
                        <a:t>-Edu - Kesgin, 2025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Diffusion + DP-SGD + adversarial fairness debiasing; DP gap &lt; 0.03, SHAP rho = 0.91, MIA AUC = 0.705 on educational data.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Scoped to educational data; no rare-event treatment; fairness regularization coefficient sensitive.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26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[16] Smith &amp; Taylor, 2022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EVT mixture augmentation combining Generalized Pareto and Gaussian; +25% tail-quantile accuracy vs SMOTE.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No privacy analysis; may over-amplify noise in minority distributions.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27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[17] EVT-GAN - Chen et al., 2023 (AAAI)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GAN loss augmented with EVT regularization; +18% rare-class recall on Credit-Fraud dataset.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Privacy untested; GAN mode-collapse still possible; no formal DP.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28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[24] FairGAN - Xu et al., 2018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Pioneering adversarial debiasing GAN optimizing both demographic parity and equalized odds alongside accuracy.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No privacy mechanism; fidelity-fairness trade-off not formally characterized.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29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[27] Papoulis &amp; Pillai, 2002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Probability, Random Variables, and Stochastic Processes textbook - foundations for diffusion SDE theory.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Reference textbook; no generative-model contribution.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5597-103F-DE6F-9EC7-C25A5816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9088-57E5-B25A-8B72-68EB6D7A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- Rare-Event and Fairness-Aware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8D458-9145-4D5E-1E63-CF8D6E875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000" b="0">
                <a:latin typeface="Times New Roman"/>
              </a:rPr>
              <a:t>Section 3.5, 3.6: EVT-based rare-event modelling and fairness-aware diffusion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A5794A0D-DF0C-25E2-B0E8-49C26BD7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9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8CD611-2D73-80A8-141A-69A7053D3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1780"/>
              </p:ext>
            </p:extLst>
          </p:nvPr>
        </p:nvGraphicFramePr>
        <p:xfrm>
          <a:off x="365760" y="1920000"/>
          <a:ext cx="8412480" cy="380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Sr No.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30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[28] de Haan &amp; Ferreira, 2006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Extreme Value Theory: An Introduction - theoretical foundation for GPD and tail modelling.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Theoretical foundation only; not a generative method.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31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[32] </a:t>
                      </a:r>
                      <a:r>
                        <a:rPr sz="1400" dirty="0" err="1">
                          <a:latin typeface="Times New Roman"/>
                        </a:rPr>
                        <a:t>FairDiffusion</a:t>
                      </a:r>
                      <a:r>
                        <a:rPr sz="1400" dirty="0">
                          <a:latin typeface="Times New Roman"/>
                        </a:rPr>
                        <a:t> - Chen et al., 2024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Fair and interpretable generative diffusion with formal bias regularization via diffusion guidance.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No rare-event focus; limited empirical validation on heterogeneous tabular data.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32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[35] Arnold &amp; Henzi, 2023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EVT mixture regression for tail-risk calibration using mixture distributions.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No generative sampling mechanism; regression-style only.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33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[39] Gill et al., 2023 (AIES)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Responsible AI synthesis framework integrating fairness, privacy, and accountability with explicit DP-budget disclosure and audit logs.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Framework-level guidance; lacks empirical benchmarks or new architecture.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34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[41] RareDiffusion - Chen &amp; Chang, 2025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Diffusion with EVT tail-conditioning; F1 = 0.92 for rare-class prediction, +10-15% over GAN/VAE baselines.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Lacks formal differential privacy; no federated evaluation.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260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- Evaluation, Benchmarks and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000" b="0">
                <a:latin typeface="Times New Roman"/>
              </a:rPr>
              <a:t>Section 3.4, 3.8: evaluation metrics, benchmarking suites and interpretability tools</a:t>
            </a:r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A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286593"/>
              </p:ext>
            </p:extLst>
          </p:nvPr>
        </p:nvGraphicFramePr>
        <p:xfrm>
          <a:off x="365760" y="1920000"/>
          <a:ext cx="8412480" cy="4233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Sr No.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36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[6] MIDST Challenge - Wu et al., 2025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New membership-inference attacks on diffusion models for tabular data synthesis; privacy-attack leaderboard.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Attack benchmark only; does not propose new private synthesis method.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37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[14] Ramesh et al., 2024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Composite DCR + TSTR + JS metric suite for DP synthetic data in high-stakes domains; diffusion +30% DCR and -8% TSTR vs GANs.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Single metric suite; does not address rare-event fidelity explicitly.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38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[15] Ramesh et al., 2025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Unified metrics taxonomy - three tiers: statistical fidelity, predictive fidelity, privacy assurance.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Taxonomy only; does not prescribe universal weightings across tiers.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39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[18] Ping et al., 2024 (IEEE TKDE)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Comprehensive survey of synthetic tabular generation; identifies diffusion as fastest-growing segment since 2023.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Survey only; no new empirical method or benchmark.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40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[29] Jordon et al., 2023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Synthetic Data Benchmarking with Synthetic Risk Index (SRI) integrating fidelity and privacy into one interpretable number.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Single-number index can obscure underlying trade-offs; fixed weighting.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CF5B3-A6BB-657C-1A43-DF0BCD4F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08AF8-5F00-390E-10BF-1E544799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Literature Review - Evaluation, Benchmarks and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B2FEC-E2DB-412C-968B-4CD5178AA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000" b="0">
                <a:latin typeface="Times New Roman"/>
              </a:rPr>
              <a:t>Section 3.4, 3.8: evaluation metrics, benchmarking suites and interpretability tools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EA73F60B-2F35-B01B-D64D-4622339D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A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CDA9F1-A229-921F-5007-0D27FB9FE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588446"/>
              </p:ext>
            </p:extLst>
          </p:nvPr>
        </p:nvGraphicFramePr>
        <p:xfrm>
          <a:off x="365760" y="1920000"/>
          <a:ext cx="8412480" cy="4660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Sr No.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/>
                        </a:rPr>
                        <a:t>41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[31] Bender &amp; Borth, 2023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Quantitative disclosure-risk metrics: re-identification probabilities and correlation-based singling-out for tabular finance.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Risk-only view; must be paired with fidelity metrics for a balanced audit.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42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[36] Koh et al., 2021 (ICML)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Analysis of model fidelity under distribution shift; diffusion retains higher predictive fidelity than GAN/VAE under covariate shift.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Analytical study; high noise schedules amplify variance on small datasets.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43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[37] Lundberg &amp; Lee, 2017 (NeurIPS)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SHAP - unified approach to interpreting model predictions; model-agnostic feature importance.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Post-hoc interpretability; not a generative method; computationally expensive on wide tables.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44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[40] Jordon et al., 2024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Evaluating privacy and utility in synthetic data across domains; cross-domain benchmark for privacy-utility trade-off.</a:t>
                      </a:r>
                    </a:p>
                  </a:txBody>
                  <a:tcPr marL="36576" marR="36576" marT="14288" marB="14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Evaluation only; no new architectural contribution.</a:t>
                      </a:r>
                    </a:p>
                  </a:txBody>
                  <a:tcPr marL="36576" marR="36576" marT="14288" marB="14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45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[43] Yale &amp; Bennett, 2024 (Neurocomputing)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Hybrid fidelity-metric GAN where diffusion pre-training improves discriminator calibration; Wasserstein -18% without privacy loss.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latin typeface="Times New Roman"/>
                        </a:rPr>
                        <a:t>Hybrid complexity increases training cost; still carries GAN mode-collapse risk.</a:t>
                      </a:r>
                    </a:p>
                  </a:txBody>
                  <a:tcPr marL="36576" marR="36576" marT="14288" marB="14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06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Proposed Methodology —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RE-TabSyn is a five-module pipeline — removing any module breaks the framework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Preprocessing: median imputation, label encoding, quantile normalisation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VAE Module: encodes mixed-type x into a smooth 64-dimensional latent z; β = 0.1 prevents posterior collapse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Diffusion Module: 4-layer Diffusion Transformer (DiT) denoises in the latent space over T = 1000 steps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CFG Module: blends conditional and unconditional noise predictions at inference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Evaluation Module: KS, TSTR AUC, Minority F1, DCR across three seeds (42, 123, 456)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Proposed Methodology — Classifier-Free 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Training: drop label y with p_uncond = 0.10 and replace it with null token ∅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Model jointly learns conditional ε_cond(z, t, y) and unconditional ε_uncond(z, t, ∅)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Inference blend:  ε̃ = ε_uncond + w · (ε_cond − ε_uncond)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Default guidance scale w = 2.0 drives minority ratio toward ≈ 50%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Changing w at inference adjusts the generated class ratio — no retraining required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First adaptation of CFG (proven in image synthesis) to structured tabular data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Implementation Details — Setup and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Hardware: MacBook Air (Apple M3, 16 GB unified RAM) — training completes within a few hours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Software: Python 3.13.5, PyTorch 2.9.1, XGBoost 3.1.2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VAE: encoder [256, 128], decoder [128, 256], latent 64-d, ReLU, β = 0.1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DiT: 4 layers, hidden 256, 4 attention heads, T = 1000 steps, linear β (10⁻⁴ → 0.02)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CFG: label dropout p_uncond = 0.10, guidance scale w = 2.0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Training: Adam, lr = 10⁻³, batch 256, 100 epochs per phase, 80/20 split, 3 seeds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Implementation Details — Datasets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Six financial benchmarks, minority 4.8%–44.5%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377440"/>
          <a:ext cx="8412480" cy="3580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Task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Min. %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Samples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Adult Income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Income &gt; $50K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24.8%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45,222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German Credit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Credit risk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30.0%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1,000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Bank Marketing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Term deposit subscription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11.3%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41,188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Credit Approval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Approval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44.5%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690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Lending Club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Loan default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20.0%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10,000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Polish Bankruptcy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Corporate bankruptcy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4.8%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5,000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Results — Statistical Fidelity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RE-TabSyn KS = 0.163, comparable to CTGAN (0.153)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TabSyn leads at 0.109; TabDDPM fails (KS 0.770)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+0.054 KS gap is the bounded cost of controllability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3200400"/>
          <a:ext cx="8412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Avg KS ↓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TSTR AUC ↑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Minority F1 ↑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Class Control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CTGAN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0.153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0.771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0.371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TabDDPM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0.770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0.518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TabSyn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0.109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0.800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0.430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No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RE-TabSyn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0.163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0.762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0.472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/>
                        </a:rPr>
                        <a:t>Real baseline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0.819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0.458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Results — Minority F1-Score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Mean Minority F1 = 0.472, beats real baseline 0.458 (+3.1%)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RE-TabSyn leads every dataset, gains largest at extreme imbalance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2743200"/>
          <a:ext cx="8686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Min %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CTGAN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TabSyn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RE-TabSyn</a:t>
                      </a:r>
                    </a:p>
                  </a:txBody>
                  <a:tcPr marL="45720" marR="45720" marT="18288" marB="18288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Adult Income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24.8%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0.543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0.482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0.518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0.552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German Credit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30.0%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0.485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0.425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0.462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0.495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Bank Marketing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11.3%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0.425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0.312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0.385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0.445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Credit Approval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44.5%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0.612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0.568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0.595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0.618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Lending Club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20.0%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0.398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0.325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0.372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0.415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Polish Bankruptcy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4.8%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0.285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0.112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0.245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0.305</a:t>
                      </a:r>
                    </a:p>
                  </a:txBody>
                  <a:tcPr marL="45720" marR="45720" marT="18288" marB="18288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latin typeface="Times New Roman"/>
                        </a:rPr>
                        <a:t>Mean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0.458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0.371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0.430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0.472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Results — Class Control, Privacy and 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Minority-ratio control: average achieved 48.1% vs 50% target (deviation 1.1%)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Polish Bankruptcy: 4.8% → 50.0% — a tenfold boost with zero seed variance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Privacy (DCR): mean &gt; 1.0 on all datasets — no systematic memorisation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Utility: TSTR AUC 0.762 = 93.0% of the real-data baseline (TabSyn 97.7%)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Guidance scale w is smooth and monotonic: w = 0 mirrors training, w = 2 balances, w ≥ 3 over-conditions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Near-term: DDIM fast sampling (10–20× speed-up); DP-SGD for formal (ε, δ)-differential privacy (ε = 2.73 feasibility shown)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Medium-term: multi-class CFG for credit ratings (AAA–D); formal membership-inference evaluation; scaled DiT (8–12 layers)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Long-term: federated RE-TabSyn for cross-institution AML; relational multi-table synthesis; fairness-aware multi-attribute conditioning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Domain transfer beyond finance: healthcare records, cybersecurity logs, manufacturing quality control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Production: REST API, constraint-enforcement layer, distribution-drift monitoring, practitioner user study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CBCC-AED8-F0C7-86E6-727DD961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289-5793-1CE8-7E14-753F7EDB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RE-TabSyn is the first tabular synthesis framework with inference-time class-ratio control via CFG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Minority representation boosted from training ratios of 4.8–44.5% to ≈ 50% with 1.1% average deviation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Minority F1 = 0.472 on balanced synthetic data surpasses the real-data baseline of 0.458 (+3.1%) across all six datasets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Empirical privacy preserved: mean DCR &gt; 1.0 on every dataset; no systematic memorisation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Fidelity trade-off is bounded: KS = 0.163 vs TabSyn 0.109 — comparable to CTGAN (0.153) while adding control</a:t>
            </a:r>
          </a:p>
          <a:p>
            <a:pPr>
              <a:buFont typeface="Arial"/>
              <a:buChar char="•"/>
            </a:pPr>
            <a:r>
              <a:rPr sz="2400" b="0">
                <a:latin typeface="Times New Roman"/>
              </a:rPr>
              <a:t>Core findings accepted at the I2IT International Conference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AD1FCD1-5ED4-58E3-97C8-22091A9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EFDD-98DF-66AB-01AD-E0B4BF88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3F21-06BA-F238-2632-BFE5EEB54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3200" b="1">
                <a:latin typeface="Times New Roman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2CD95-2D76-CC3B-000D-D06DA84D9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 marL="0" indent="0" algn="just">
              <a:buNone/>
            </a:pPr>
            <a:r>
              <a:rPr sz="1800" b="0" dirty="0">
                <a:latin typeface="Times New Roman"/>
              </a:rPr>
              <a:t>[1] J. Ho, A. Jain and P. </a:t>
            </a:r>
            <a:r>
              <a:rPr sz="1800" b="0" dirty="0" err="1">
                <a:latin typeface="Times New Roman"/>
              </a:rPr>
              <a:t>Abbeel</a:t>
            </a:r>
            <a:r>
              <a:rPr sz="1800" b="0" dirty="0">
                <a:latin typeface="Times New Roman"/>
              </a:rPr>
              <a:t>, “Denoising Diffusion Probabilistic Models,” </a:t>
            </a:r>
            <a:r>
              <a:rPr sz="1800" b="0" dirty="0" err="1">
                <a:latin typeface="Times New Roman"/>
              </a:rPr>
              <a:t>NeurIPS</a:t>
            </a:r>
            <a:r>
              <a:rPr sz="1800" b="0" dirty="0">
                <a:latin typeface="Times New Roman"/>
              </a:rPr>
              <a:t>, 2020.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[2] J. Ho and T. </a:t>
            </a:r>
            <a:r>
              <a:rPr sz="1800" b="0" dirty="0" err="1">
                <a:latin typeface="Times New Roman"/>
              </a:rPr>
              <a:t>Salimans</a:t>
            </a:r>
            <a:r>
              <a:rPr sz="1800" b="0" dirty="0">
                <a:latin typeface="Times New Roman"/>
              </a:rPr>
              <a:t>, “Classifier-Free Diffusion Guidance,” </a:t>
            </a:r>
            <a:r>
              <a:rPr sz="1800" b="0" dirty="0" err="1">
                <a:latin typeface="Times New Roman"/>
              </a:rPr>
              <a:t>NeurIPS</a:t>
            </a:r>
            <a:r>
              <a:rPr sz="1800" b="0" dirty="0">
                <a:latin typeface="Times New Roman"/>
              </a:rPr>
              <a:t> Workshop, 2021.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[3] H. Zhang et al., “Mixed-Type Tabular Data Synthesis with Score-based Diffusion (</a:t>
            </a:r>
            <a:r>
              <a:rPr sz="1800" b="0" dirty="0" err="1">
                <a:latin typeface="Times New Roman"/>
              </a:rPr>
              <a:t>TabSyn</a:t>
            </a:r>
            <a:r>
              <a:rPr sz="1800" b="0" dirty="0">
                <a:latin typeface="Times New Roman"/>
              </a:rPr>
              <a:t>),” ICLR, 2024.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[4] L. Xu et al., “Modeling Tabular Data using Conditional GAN (CTGAN),” </a:t>
            </a:r>
            <a:r>
              <a:rPr sz="1800" b="0" dirty="0" err="1">
                <a:latin typeface="Times New Roman"/>
              </a:rPr>
              <a:t>NeurIPS</a:t>
            </a:r>
            <a:r>
              <a:rPr sz="1800" b="0" dirty="0">
                <a:latin typeface="Times New Roman"/>
              </a:rPr>
              <a:t>, 2019.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[5] A. </a:t>
            </a:r>
            <a:r>
              <a:rPr sz="1800" b="0" dirty="0" err="1">
                <a:latin typeface="Times New Roman"/>
              </a:rPr>
              <a:t>Kotelnikov</a:t>
            </a:r>
            <a:r>
              <a:rPr sz="1800" b="0" dirty="0">
                <a:latin typeface="Times New Roman"/>
              </a:rPr>
              <a:t> et al., “</a:t>
            </a:r>
            <a:r>
              <a:rPr sz="1800" b="0" dirty="0" err="1">
                <a:latin typeface="Times New Roman"/>
              </a:rPr>
              <a:t>TabDDPM</a:t>
            </a:r>
            <a:r>
              <a:rPr sz="1800" b="0" dirty="0">
                <a:latin typeface="Times New Roman"/>
              </a:rPr>
              <a:t>: Modelling Tabular Data with Diffusion Models,” ICML, 2023.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[6] D. P. </a:t>
            </a:r>
            <a:r>
              <a:rPr sz="1800" b="0" dirty="0" err="1">
                <a:latin typeface="Times New Roman"/>
              </a:rPr>
              <a:t>Kingma</a:t>
            </a:r>
            <a:r>
              <a:rPr sz="1800" b="0" dirty="0">
                <a:latin typeface="Times New Roman"/>
              </a:rPr>
              <a:t> and M. Welling, “Auto-Encoding Variational Bayes,” ICLR, 2014.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[7] R. </a:t>
            </a:r>
            <a:r>
              <a:rPr sz="1800" b="0" dirty="0" err="1">
                <a:latin typeface="Times New Roman"/>
              </a:rPr>
              <a:t>Rombach</a:t>
            </a:r>
            <a:r>
              <a:rPr sz="1800" b="0" dirty="0">
                <a:latin typeface="Times New Roman"/>
              </a:rPr>
              <a:t> et al., “High-Resolution Image Synthesis with Latent Diffusion Models,” CVPR, 2022.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[8] N. V. Chawla et al., “SMOTE: Synthetic Minority Over-sampling Technique,” JAIR, 2002.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[9] M. Abadi et al., “Deep Learning with Differential Privacy,” ACM CCS, 2016.</a:t>
            </a:r>
          </a:p>
          <a:p>
            <a:pPr>
              <a:buNone/>
            </a:pPr>
            <a:r>
              <a:rPr sz="1800" b="0" dirty="0">
                <a:latin typeface="Times New Roman"/>
              </a:rPr>
              <a:t>[10] Y. K. Shroff, “Controllable Rare Event Synthetic Data Generation for Financial Tabular Data via Classifier Free Guidance,” I2IT International Conference, 2026.</a:t>
            </a:r>
          </a:p>
          <a:p>
            <a:pPr>
              <a:buNone/>
            </a:pPr>
            <a:endParaRPr lang="en-US" sz="1100" dirty="0">
              <a:latin typeface="Times New Roman"/>
            </a:endParaRP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C8693B66-B8EC-8580-E33B-576799C1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355556"/>
            <a:ext cx="2133600" cy="273844"/>
          </a:xfrm>
        </p:spPr>
        <p:txBody>
          <a:bodyPr/>
          <a:lstStyle/>
          <a:p>
            <a:fld id="{3B90489E-D169-49EE-9EAE-C0D431D15446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210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59192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</TotalTime>
  <Words>3253</Words>
  <Application>Microsoft Macintosh PowerPoint</Application>
  <PresentationFormat>On-screen Show (4:3)</PresentationFormat>
  <Paragraphs>479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RE-TabSyn: Controllable Rare-Event Synthetic Data Generation for Financial Tabular Data via Classifier-Free Guidance</vt:lpstr>
      <vt:lpstr>Contents</vt:lpstr>
      <vt:lpstr>Introduction</vt:lpstr>
      <vt:lpstr>Problem Statement</vt:lpstr>
      <vt:lpstr>Objectives</vt:lpstr>
      <vt:lpstr>Literature Review — Capability Comparison</vt:lpstr>
      <vt:lpstr>Literature Review - Diffusion Architectures for Tabular Synthesis</vt:lpstr>
      <vt:lpstr>Literature Review - Diffusion Architectures for Tabular Synthesis</vt:lpstr>
      <vt:lpstr>Literature Review - Privacy-Preserving and Federated Diffusion</vt:lpstr>
      <vt:lpstr>Literature Review - Privacy-Preserving and Federated Diffusion</vt:lpstr>
      <vt:lpstr>Literature Review - Rare-Event and Fairness-Aware Generation</vt:lpstr>
      <vt:lpstr>Literature Review - Rare-Event and Fairness-Aware Generation</vt:lpstr>
      <vt:lpstr>Literature Review - Evaluation, Benchmarks and Interpretability</vt:lpstr>
      <vt:lpstr>Literature Review - Evaluation, Benchmarks and Interpretability</vt:lpstr>
      <vt:lpstr>Proposed Methodology — Architecture</vt:lpstr>
      <vt:lpstr>Proposed Methodology — Classifier-Free Guidance</vt:lpstr>
      <vt:lpstr>Implementation Details — Setup and Hyperparameters</vt:lpstr>
      <vt:lpstr>Implementation Details — Datasets and Evaluation</vt:lpstr>
      <vt:lpstr>Results — Statistical Fidelity</vt:lpstr>
      <vt:lpstr>Results — Minority F1-Score</vt:lpstr>
      <vt:lpstr>Results — Class Control, Privacy and Utility</vt:lpstr>
      <vt:lpstr>Future Work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Asha M. Tarsadia Institute of Computer Science &amp;  Technology</dc:title>
  <dc:creator>AMTICS</dc:creator>
  <cp:lastModifiedBy>Yaksi Shroff</cp:lastModifiedBy>
  <cp:revision>54</cp:revision>
  <dcterms:created xsi:type="dcterms:W3CDTF">2006-08-16T00:00:00Z</dcterms:created>
  <dcterms:modified xsi:type="dcterms:W3CDTF">2026-04-23T05:15:27Z</dcterms:modified>
</cp:coreProperties>
</file>