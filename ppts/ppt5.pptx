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7deca41176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7deca41176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title"/>
          </p:nvPr>
        </p:nvSpPr>
        <p:spPr>
          <a:xfrm>
            <a:off x="457200" y="3810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b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IN" sz="2400">
                <a:latin typeface="Times New Roman"/>
                <a:ea typeface="Times New Roman"/>
                <a:cs typeface="Times New Roman"/>
                <a:sym typeface="Times New Roman"/>
              </a:rPr>
              <a:t>Research Presentation</a:t>
            </a:r>
            <a:br>
              <a:rPr b="1" lang="en-IN" sz="2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5" name="Google Shape;8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8901" y="381000"/>
            <a:ext cx="985197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400050"/>
            <a:ext cx="11430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-9949575" y="1027425"/>
            <a:ext cx="6400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F243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457200" y="25908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I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Submitted by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I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Yaksi Ketan Shroff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I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(202203103510201)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Guided by: Dr. Vishvajit Bakrola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457200" y="44958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I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Engineering, 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I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AMTICS, UTU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3581406" y="6324600"/>
            <a:ext cx="178593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12 September</a:t>
            </a:r>
            <a:r>
              <a:rPr b="1" i="0" lang="en-I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1" lang="en-IN" sz="3200">
                <a:latin typeface="Times New Roman"/>
                <a:ea typeface="Times New Roman"/>
                <a:cs typeface="Times New Roman"/>
                <a:sym typeface="Times New Roman"/>
              </a:rPr>
              <a:t>Contents</a:t>
            </a:r>
            <a:endParaRPr/>
          </a:p>
        </p:txBody>
      </p:sp>
      <p:sp>
        <p:nvSpPr>
          <p:cNvPr id="96" name="Google Shape;96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3429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Proposed Title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Domain of Interest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Reason for choosing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Research Papers Summary and Gaps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Final Findings (Table form)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14"/>
          <p:cNvSpPr txBox="1"/>
          <p:nvPr>
            <p:ph idx="12" type="sldNum"/>
          </p:nvPr>
        </p:nvSpPr>
        <p:spPr>
          <a:xfrm>
            <a:off x="6705600" y="63555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I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1" lang="en-IN" sz="3200">
                <a:latin typeface="Times New Roman"/>
                <a:ea typeface="Times New Roman"/>
                <a:cs typeface="Times New Roman"/>
                <a:sym typeface="Times New Roman"/>
              </a:rPr>
              <a:t>Proposed Title</a:t>
            </a:r>
            <a:endParaRPr/>
          </a:p>
        </p:txBody>
      </p:sp>
      <p:sp>
        <p:nvSpPr>
          <p:cNvPr id="103" name="Google Shape;103;p15"/>
          <p:cNvSpPr txBox="1"/>
          <p:nvPr>
            <p:ph idx="1" type="body"/>
          </p:nvPr>
        </p:nvSpPr>
        <p:spPr>
          <a:xfrm>
            <a:off x="457200" y="1623613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b="1" lang="en-IN" sz="24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“</a:t>
            </a:r>
            <a:r>
              <a:rPr b="1" lang="en-IN" sz="2400">
                <a:latin typeface="Times New Roman"/>
                <a:ea typeface="Times New Roman"/>
                <a:cs typeface="Times New Roman"/>
                <a:sym typeface="Times New Roman"/>
              </a:rPr>
              <a:t>Synthetic Tabular Data Generation at the Intersection of Privacy, Fidelity, and Rare Events: A Diffusion-Based Approach”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429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15"/>
          <p:cNvSpPr txBox="1"/>
          <p:nvPr>
            <p:ph idx="12" type="sldNum"/>
          </p:nvPr>
        </p:nvSpPr>
        <p:spPr>
          <a:xfrm>
            <a:off x="6705600" y="63555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I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1" lang="en-IN" sz="3200">
                <a:latin typeface="Times New Roman"/>
                <a:ea typeface="Times New Roman"/>
                <a:cs typeface="Times New Roman"/>
                <a:sym typeface="Times New Roman"/>
              </a:rPr>
              <a:t>Selected Domain of Interest</a:t>
            </a:r>
            <a:endParaRPr/>
          </a:p>
        </p:txBody>
      </p:sp>
      <p:sp>
        <p:nvSpPr>
          <p:cNvPr id="110" name="Google Shape;110;p16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34290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Artificial Intelligence (AI)</a:t>
            </a:r>
            <a:b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34290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Synthetic Data Generation</a:t>
            </a:r>
            <a:b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34290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Privacy-Preserving Machine Learning</a:t>
            </a:r>
            <a:b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34290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Diffusion Models for Tabular Data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42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16"/>
          <p:cNvSpPr txBox="1"/>
          <p:nvPr>
            <p:ph idx="12" type="sldNum"/>
          </p:nvPr>
        </p:nvSpPr>
        <p:spPr>
          <a:xfrm>
            <a:off x="6705600" y="6355556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I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1" lang="en-IN" sz="3200"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/>
          </a:p>
        </p:txBody>
      </p:sp>
      <p:sp>
        <p:nvSpPr>
          <p:cNvPr id="117" name="Google Shape;117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Data in sensitive domains (finance, healthcare) is valuable but restricted by </a:t>
            </a:r>
            <a:r>
              <a:rPr b="1" lang="en-IN" sz="2400">
                <a:latin typeface="Times New Roman"/>
                <a:ea typeface="Times New Roman"/>
                <a:cs typeface="Times New Roman"/>
                <a:sym typeface="Times New Roman"/>
              </a:rPr>
              <a:t>GDPR</a:t>
            </a: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 &amp; </a:t>
            </a:r>
            <a:r>
              <a:rPr b="1" lang="en-IN" sz="2400">
                <a:latin typeface="Times New Roman"/>
                <a:ea typeface="Times New Roman"/>
                <a:cs typeface="Times New Roman"/>
                <a:sym typeface="Times New Roman"/>
              </a:rPr>
              <a:t>DPDP</a:t>
            </a: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Synthetic tabular data allows safe data sharing but fails to balance </a:t>
            </a:r>
            <a:r>
              <a:rPr b="1" lang="en-IN" sz="2400">
                <a:latin typeface="Times New Roman"/>
                <a:ea typeface="Times New Roman"/>
                <a:cs typeface="Times New Roman"/>
                <a:sym typeface="Times New Roman"/>
              </a:rPr>
              <a:t>three requirements simultaneously</a:t>
            </a: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b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b="1" lang="en-IN" sz="2400">
                <a:latin typeface="Times New Roman"/>
                <a:ea typeface="Times New Roman"/>
                <a:cs typeface="Times New Roman"/>
                <a:sym typeface="Times New Roman"/>
              </a:rPr>
              <a:t>Utility</a:t>
            </a: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 — ≤5% AUC drop vs real data.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b="1" lang="en-IN" sz="2400">
                <a:latin typeface="Times New Roman"/>
                <a:ea typeface="Times New Roman"/>
                <a:cs typeface="Times New Roman"/>
                <a:sym typeface="Times New Roman"/>
              </a:rPr>
              <a:t>Privacy</a:t>
            </a: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 — Formal DP (ε≈1–2) and resilience to MIAs/PIAs.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b="1" lang="en-IN" sz="2400">
                <a:latin typeface="Times New Roman"/>
                <a:ea typeface="Times New Roman"/>
                <a:cs typeface="Times New Roman"/>
                <a:sym typeface="Times New Roman"/>
              </a:rPr>
              <a:t>Rare-event fidelity</a:t>
            </a: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 — Preserve rare but important patterns (&lt;1% prevalence).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17"/>
          <p:cNvSpPr txBox="1"/>
          <p:nvPr>
            <p:ph idx="12" type="sldNum"/>
          </p:nvPr>
        </p:nvSpPr>
        <p:spPr>
          <a:xfrm>
            <a:off x="6705600" y="63555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I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34290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IN" sz="3200">
                <a:latin typeface="Times New Roman"/>
                <a:ea typeface="Times New Roman"/>
                <a:cs typeface="Times New Roman"/>
                <a:sym typeface="Times New Roman"/>
              </a:rPr>
              <a:t>Reason for choosing </a:t>
            </a:r>
            <a:endParaRPr b="1"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342900" rtl="0" algn="l">
              <a:spcBef>
                <a:spcPts val="240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Urgent industry need (fraud detection losses &gt;$50B, GDPR fines €1.6B).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342900" rtl="0" algn="l"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Novel opportunity: </a:t>
            </a:r>
            <a:r>
              <a:rPr b="1" lang="en-IN" sz="2400">
                <a:latin typeface="Times New Roman"/>
                <a:ea typeface="Times New Roman"/>
                <a:cs typeface="Times New Roman"/>
                <a:sym typeface="Times New Roman"/>
              </a:rPr>
              <a:t>3-way optimization challenge</a:t>
            </a: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342900" rtl="0" algn="l"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Strong academic + policy impact potential.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p18"/>
          <p:cNvSpPr txBox="1"/>
          <p:nvPr>
            <p:ph idx="12" type="sldNum"/>
          </p:nvPr>
        </p:nvSpPr>
        <p:spPr>
          <a:xfrm>
            <a:off x="6705600" y="63555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I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1" lang="en-IN" sz="3200">
                <a:latin typeface="Times New Roman"/>
                <a:ea typeface="Times New Roman"/>
                <a:cs typeface="Times New Roman"/>
                <a:sym typeface="Times New Roman"/>
              </a:rPr>
              <a:t>Research Papers Summary and Gaps</a:t>
            </a:r>
            <a:endParaRPr/>
          </a:p>
        </p:txBody>
      </p:sp>
      <p:sp>
        <p:nvSpPr>
          <p:cNvPr id="131" name="Google Shape;131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>
                <a:latin typeface="Times New Roman"/>
                <a:ea typeface="Times New Roman"/>
                <a:cs typeface="Times New Roman"/>
                <a:sym typeface="Times New Roman"/>
              </a:rPr>
              <a:t>Gaps Identified: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AutoNum type="arabicPeriod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No approach balances </a:t>
            </a:r>
            <a:r>
              <a:rPr b="1" lang="en-IN" sz="2400">
                <a:latin typeface="Times New Roman"/>
                <a:ea typeface="Times New Roman"/>
                <a:cs typeface="Times New Roman"/>
                <a:sym typeface="Times New Roman"/>
              </a:rPr>
              <a:t>utility, privacy, and rare-event fidelity</a:t>
            </a: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 together.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b="1" lang="en-IN" sz="2400">
                <a:latin typeface="Times New Roman"/>
                <a:ea typeface="Times New Roman"/>
                <a:cs typeface="Times New Roman"/>
                <a:sym typeface="Times New Roman"/>
              </a:rPr>
              <a:t>Rare-event metrics</a:t>
            </a: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 are inadequate (&lt;1% prevalence poorly measured).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Diffusion models lack </a:t>
            </a:r>
            <a:r>
              <a:rPr b="1" lang="en-IN" sz="2400">
                <a:latin typeface="Times New Roman"/>
                <a:ea typeface="Times New Roman"/>
                <a:cs typeface="Times New Roman"/>
                <a:sym typeface="Times New Roman"/>
              </a:rPr>
              <a:t>formal privacy guarantees</a:t>
            </a: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Limited </a:t>
            </a:r>
            <a:r>
              <a:rPr b="1" lang="en-IN" sz="2400">
                <a:latin typeface="Times New Roman"/>
                <a:ea typeface="Times New Roman"/>
                <a:cs typeface="Times New Roman"/>
                <a:sym typeface="Times New Roman"/>
              </a:rPr>
              <a:t>resilience testing</a:t>
            </a: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 against MIAs/PIAs.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429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p19"/>
          <p:cNvSpPr txBox="1"/>
          <p:nvPr>
            <p:ph idx="12" type="sldNum"/>
          </p:nvPr>
        </p:nvSpPr>
        <p:spPr>
          <a:xfrm>
            <a:off x="6705600" y="63555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I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1" lang="en-IN" sz="3200">
                <a:latin typeface="Times New Roman"/>
                <a:ea typeface="Times New Roman"/>
                <a:cs typeface="Times New Roman"/>
                <a:sym typeface="Times New Roman"/>
              </a:rPr>
              <a:t>Final Findings</a:t>
            </a:r>
            <a:endParaRPr/>
          </a:p>
        </p:txBody>
      </p:sp>
      <p:sp>
        <p:nvSpPr>
          <p:cNvPr id="138" name="Google Shape;138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t/>
            </a:r>
            <a:endParaRPr/>
          </a:p>
        </p:txBody>
      </p:sp>
      <p:sp>
        <p:nvSpPr>
          <p:cNvPr id="139" name="Google Shape;139;p20"/>
          <p:cNvSpPr txBox="1"/>
          <p:nvPr>
            <p:ph idx="12" type="sldNum"/>
          </p:nvPr>
        </p:nvSpPr>
        <p:spPr>
          <a:xfrm>
            <a:off x="6705600" y="63555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I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0" name="Google Shape;140;p20" title="Screenshot 2025-09-11 at 20.36.5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375" y="1125875"/>
            <a:ext cx="9033226" cy="522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1" lang="en-IN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b="1"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810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Current models fail to achieve the </a:t>
            </a:r>
            <a:r>
              <a:rPr b="1" lang="en-IN" sz="2400">
                <a:latin typeface="Times New Roman"/>
                <a:ea typeface="Times New Roman"/>
                <a:cs typeface="Times New Roman"/>
                <a:sym typeface="Times New Roman"/>
              </a:rPr>
              <a:t>privacy–fidelity–utility balance</a:t>
            </a: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b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Proposed: </a:t>
            </a:r>
            <a:r>
              <a:rPr b="1" lang="en-IN" sz="2400">
                <a:latin typeface="Times New Roman"/>
                <a:ea typeface="Times New Roman"/>
                <a:cs typeface="Times New Roman"/>
                <a:sym typeface="Times New Roman"/>
              </a:rPr>
              <a:t>Differentially Private Diffusion Model</a:t>
            </a: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 with rare-event calibration.</a:t>
            </a:r>
            <a:b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Ensures </a:t>
            </a:r>
            <a:r>
              <a:rPr b="1" lang="en-IN" sz="2400">
                <a:latin typeface="Times New Roman"/>
                <a:ea typeface="Times New Roman"/>
                <a:cs typeface="Times New Roman"/>
                <a:sym typeface="Times New Roman"/>
              </a:rPr>
              <a:t>regulatory compliance</a:t>
            </a: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, supports </a:t>
            </a:r>
            <a:r>
              <a:rPr b="1" lang="en-IN" sz="2400">
                <a:latin typeface="Times New Roman"/>
                <a:ea typeface="Times New Roman"/>
                <a:cs typeface="Times New Roman"/>
                <a:sym typeface="Times New Roman"/>
              </a:rPr>
              <a:t>finance &amp; healthcare</a:t>
            </a: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, and provides new </a:t>
            </a:r>
            <a:r>
              <a:rPr b="1" lang="en-IN" sz="2400">
                <a:latin typeface="Times New Roman"/>
                <a:ea typeface="Times New Roman"/>
                <a:cs typeface="Times New Roman"/>
                <a:sym typeface="Times New Roman"/>
              </a:rPr>
              <a:t>evaluation standards</a:t>
            </a: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b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This research bridges a critical gap in </a:t>
            </a:r>
            <a:r>
              <a:rPr b="1" lang="en-IN" sz="2400">
                <a:latin typeface="Times New Roman"/>
                <a:ea typeface="Times New Roman"/>
                <a:cs typeface="Times New Roman"/>
                <a:sym typeface="Times New Roman"/>
              </a:rPr>
              <a:t>synthetic data generation</a:t>
            </a: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 and opens new directions for academia and industry.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42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21"/>
          <p:cNvSpPr txBox="1"/>
          <p:nvPr>
            <p:ph idx="12" type="sldNum"/>
          </p:nvPr>
        </p:nvSpPr>
        <p:spPr>
          <a:xfrm>
            <a:off x="6705600" y="63555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I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1" i="0" lang="en-IN" sz="32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Work Plan </a:t>
            </a:r>
            <a:endParaRPr b="1"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22"/>
          <p:cNvSpPr txBox="1"/>
          <p:nvPr>
            <p:ph idx="1" type="body"/>
          </p:nvPr>
        </p:nvSpPr>
        <p:spPr>
          <a:xfrm>
            <a:off x="457200" y="1600200"/>
            <a:ext cx="8229600" cy="37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10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Develop a </a:t>
            </a:r>
            <a:r>
              <a:rPr b="1" lang="en-IN" sz="2400">
                <a:latin typeface="Times New Roman"/>
                <a:ea typeface="Times New Roman"/>
                <a:cs typeface="Times New Roman"/>
                <a:sym typeface="Times New Roman"/>
              </a:rPr>
              <a:t>Differentially Private Diffusion Model (DP-DM)</a:t>
            </a: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 with ε≈1–2.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Introduce a </a:t>
            </a:r>
            <a:r>
              <a:rPr b="1" lang="en-IN" sz="2400">
                <a:latin typeface="Times New Roman"/>
                <a:ea typeface="Times New Roman"/>
                <a:cs typeface="Times New Roman"/>
                <a:sym typeface="Times New Roman"/>
              </a:rPr>
              <a:t>rare-event calibration mechanism</a:t>
            </a: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Create a </a:t>
            </a:r>
            <a:r>
              <a:rPr b="1" lang="en-IN" sz="2400">
                <a:latin typeface="Times New Roman"/>
                <a:ea typeface="Times New Roman"/>
                <a:cs typeface="Times New Roman"/>
                <a:sym typeface="Times New Roman"/>
              </a:rPr>
              <a:t>comprehensive evaluation framework</a:t>
            </a: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 (utility, fidelity, privacy).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Benchmark against </a:t>
            </a:r>
            <a:r>
              <a:rPr b="1" lang="en-IN" sz="2400">
                <a:latin typeface="Times New Roman"/>
                <a:ea typeface="Times New Roman"/>
                <a:cs typeface="Times New Roman"/>
                <a:sym typeface="Times New Roman"/>
              </a:rPr>
              <a:t>CTGAN, TVAE, non-private diffusion models</a:t>
            </a: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Validate on </a:t>
            </a:r>
            <a:r>
              <a:rPr b="1" lang="en-IN" sz="2400">
                <a:latin typeface="Times New Roman"/>
                <a:ea typeface="Times New Roman"/>
                <a:cs typeface="Times New Roman"/>
                <a:sym typeface="Times New Roman"/>
              </a:rPr>
              <a:t>fraud detection &amp; healthcare datasets</a:t>
            </a: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p22"/>
          <p:cNvSpPr txBox="1"/>
          <p:nvPr>
            <p:ph idx="12" type="sldNum"/>
          </p:nvPr>
        </p:nvSpPr>
        <p:spPr>
          <a:xfrm>
            <a:off x="6705600" y="63555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IN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3"/>
          <p:cNvSpPr txBox="1"/>
          <p:nvPr>
            <p:ph idx="1" type="body"/>
          </p:nvPr>
        </p:nvSpPr>
        <p:spPr>
          <a:xfrm>
            <a:off x="457200" y="126523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</a:pPr>
            <a:r>
              <a:rPr lang="en-IN" sz="4800"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